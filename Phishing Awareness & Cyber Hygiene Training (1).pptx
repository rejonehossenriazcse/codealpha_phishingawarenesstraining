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114800" cy="41148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pptx_proj/icons/shiel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978408"/>
            <a:ext cx="466344" cy="466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&amp;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HYGIENE TRAINING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41248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00" kern="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SOCIAL ENGINEERING · SECURING CREDENTIALS · PREVENTING CYBER THREATS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1248" y="4434840"/>
            <a:ext cx="201168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5806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MD. Rejone Hossen Riaz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61081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 | CodeAlpha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Phishing Attacks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malicious actors deceive users into handing over sensitive credentials, personal information, or access to secure networks by masquerading as trusted organizations.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423160"/>
            <a:ext cx="731520" cy="731520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6" name="Image 0" descr="/home/claude/pptx_proj/icons/envelop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606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33756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794760"/>
            <a:ext cx="2295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deceptive emails delivered to broad recipient lists.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21031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2423160"/>
            <a:ext cx="731520" cy="731520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11" name="Image 1" descr="/home/claude/pptx_proj/icons/targe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606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333756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75888" y="3794760"/>
            <a:ext cx="2295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Context-specific attacks targeted at chosen individuals or organizations.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0" y="21031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83780" y="2423160"/>
            <a:ext cx="731520" cy="731520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16" name="Image 2" descr="/home/claude/pptx_proj/icons/phon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2606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333756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 &amp; Vishing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01968" y="3794760"/>
            <a:ext cx="2295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Exploitative attacks leveraging SMS messages and fraudulent phone calls.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326880" y="21031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09860" y="2423160"/>
            <a:ext cx="731520" cy="731520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21" name="Image 3" descr="/home/claude/pptx_proj/icons/clon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2740" y="26060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91472" y="333756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28048" y="3794760"/>
            <a:ext cx="2295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Duplicating legitimate past interactions and substituting safe links or attachments with malicious files.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Cyber Hygiene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pptx_proj/icons/brain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Psychological Exploitations in Social Engineering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deliberately manipulate human emotions and decision-making heuristics to bypass critical analysis.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11064240" cy="886968"/>
          </a:xfrm>
          <a:prstGeom prst="roundRect">
            <a:avLst>
              <a:gd name="adj" fmla="val 7216"/>
            </a:avLst>
          </a:prstGeom>
          <a:solidFill>
            <a:srgbClr val="24365C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089404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9" name="Image 1" descr="/home/claude/pptx_proj/icons/hourglas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24485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03911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Manufactured Urgency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46320" y="203911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Imposing severe time constraints (e.g., "Account lockout in 60 minutes") to trigger hasty actions.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11064240" cy="886968"/>
          </a:xfrm>
          <a:prstGeom prst="roundRect">
            <a:avLst>
              <a:gd name="adj" fmla="val 7216"/>
            </a:avLst>
          </a:prstGeom>
          <a:solidFill>
            <a:srgbClr val="24365C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140964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4" name="Image 2" descr="/home/claude/pptx_proj/icons/userti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29641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0906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 Impersonation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846320" y="309067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Posing as department heads, IT security teams, law enforcement, or executive leadership.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11064240" cy="886968"/>
          </a:xfrm>
          <a:prstGeom prst="roundRect">
            <a:avLst>
              <a:gd name="adj" fmla="val 7216"/>
            </a:avLst>
          </a:prstGeom>
          <a:solidFill>
            <a:srgbClr val="24365C"/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" y="4192524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9" name="Image 3" descr="/home/claude/pptx_proj/icons/warning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34797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14223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Intimidation &amp; Fear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846320" y="414223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regulatory fines, termination, or compromised confidential assets.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5120640"/>
            <a:ext cx="11064240" cy="886968"/>
          </a:xfrm>
          <a:prstGeom prst="roundRect">
            <a:avLst>
              <a:gd name="adj" fmla="val 7216"/>
            </a:avLst>
          </a:prstGeom>
          <a:solidFill>
            <a:srgbClr val="24365C"/>
          </a:solidFill>
          <a:ln/>
        </p:spPr>
      </p:sp>
      <p:sp>
        <p:nvSpPr>
          <p:cNvPr id="23" name="Shape 17"/>
          <p:cNvSpPr/>
          <p:nvPr/>
        </p:nvSpPr>
        <p:spPr>
          <a:xfrm>
            <a:off x="777240" y="5244084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24" name="Image 4" descr="/home/claude/pptx_proj/icons/coins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399532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91640" y="51937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 &amp; Curiosity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4846320" y="519379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unearned cash rewards, lottery bonuses, or package deliveries.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Cyber Hygiene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Email Red Flags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anomalous elements within deceptive emails allows swift threat neutralization.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6" name="Image 0" descr="/home/claude/pptx_proj/icons/glob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933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Deceptive Sender Domains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names matching trusted entities while the underlying domain is fraudulent.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246120"/>
            <a:ext cx="4800600" cy="320040"/>
          </a:xfrm>
          <a:prstGeom prst="roundRect">
            <a:avLst>
              <a:gd name="adj" fmla="val 11429"/>
            </a:avLst>
          </a:prstGeom>
          <a:solidFill>
            <a:srgbClr val="FBE9E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246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support@paypa1-update.com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1856232"/>
            <a:ext cx="566928" cy="566928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13" name="Image 1" descr="/home/claude/pptx_proj/icons/fil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9339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Impersonal Salutations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37960" y="24688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 such as "Dear Customer" instead of a verified username or personal name.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18" name="Image 2" descr="/home/claude/pptx_proj/icons/lin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37083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178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Misleading Hyperlinks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2960" y="48463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anchor text masking an entirely disparate, suspicious target URL.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9672" y="4233672"/>
            <a:ext cx="566928" cy="566928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23" name="Image 3" descr="/home/claude/pptx_proj/icons/paperclip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37083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178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Attachments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537960" y="48463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Inclusions carrying executable or macro-enabled formats.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537960" y="5623560"/>
            <a:ext cx="4800600" cy="320040"/>
          </a:xfrm>
          <a:prstGeom prst="roundRect">
            <a:avLst>
              <a:gd name="adj" fmla="val 11429"/>
            </a:avLst>
          </a:prstGeom>
          <a:solidFill>
            <a:srgbClr val="FBE9EA"/>
          </a:solidFill>
          <a:ln/>
        </p:spPr>
      </p:sp>
      <p:sp>
        <p:nvSpPr>
          <p:cNvPr id="27" name="Text 21"/>
          <p:cNvSpPr/>
          <p:nvPr/>
        </p:nvSpPr>
        <p:spPr>
          <a:xfrm>
            <a:off x="6629400" y="5623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.exe · .scr · .iso · .docm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Cyber Hygiene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Login Portals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 build identical login interfaces to intercept plain-text credentials and session tokens.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39112"/>
            <a:ext cx="310896" cy="310896"/>
          </a:xfrm>
          <a:prstGeom prst="ellipse">
            <a:avLst/>
          </a:prstGeom>
          <a:solidFill>
            <a:srgbClr val="3B4E7A"/>
          </a:solidFill>
          <a:ln/>
        </p:spPr>
      </p:sp>
      <p:pic>
        <p:nvPicPr>
          <p:cNvPr id="7" name="Image 0" descr="/home/claude/pptx_proj/icons/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031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https://netflx.com/login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Padlock ≠ Authenticity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HTTPS/SSL confirms the connection is encrypted — not that the destination domain is genuine.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68880" y="4023360"/>
            <a:ext cx="1188720" cy="118872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2" name="Image 1" descr="/home/claude/pptx_proj/icons/usersecre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427939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5029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Typosquatted domains and mismatched TLDs mimic trusted brands pixel-for-pixel.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897880" y="17373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15" name="Image 2" descr="/home/claude/pptx_proj/icons/search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85623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1673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Typosquatting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583680" y="19842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names registered with deliberate typographic errors.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583680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netflx.com · g00gle.com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897880" y="269748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20" name="Image 3" descr="/home/claude/pptx_proj/icons/loc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81635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0" y="26334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Padlock Misconception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583680" y="2944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HTTPS/SSL confirms encrypted data flow, not domain authenticity.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897880" y="365760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24" name="Image 4" descr="/home/claude/pptx_proj/icons/fil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3776472"/>
            <a:ext cx="265176" cy="2651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83680" y="3593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UI Elements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583680" y="3904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 brand assets, distorted alignment, grammatical inconsistencies.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897880" y="461772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pic>
        <p:nvPicPr>
          <p:cNvPr id="28" name="Image 5" descr="/home/claude/pptx_proj/icons/globe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4736592"/>
            <a:ext cx="265176" cy="26517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83680" y="45537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TLDs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6583680" y="48646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Unconventional top-level domains used to mimic corporate login infrastructure.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583680" y="5230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.xyz · .top · .info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Cyber Hygiene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029200" cy="50292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Incident: SSO Credential Harvesting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how single-point phishing campaigns lead to broad enterprise compromises.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08960" y="2971800"/>
            <a:ext cx="219456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542032" cy="3063240"/>
          </a:xfrm>
          <a:prstGeom prst="roundRect">
            <a:avLst>
              <a:gd name="adj" fmla="val 2878"/>
            </a:avLst>
          </a:prstGeom>
          <a:solidFill>
            <a:srgbClr val="24365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 BAIT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08176" y="2788920"/>
            <a:ext cx="822960" cy="82296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0" name="Image 0" descr="/home/claude/pptx_proj/icons/bell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299008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37947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Urgent Alert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" y="434340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"Mandatory Security Upgrade Required Before End of Day."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90672" y="2971800"/>
            <a:ext cx="256032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46704" y="2194560"/>
            <a:ext cx="2542032" cy="3063240"/>
          </a:xfrm>
          <a:prstGeom prst="roundRect">
            <a:avLst>
              <a:gd name="adj" fmla="val 2878"/>
            </a:avLst>
          </a:prstGeom>
          <a:solidFill>
            <a:srgbClr val="24365C"/>
          </a:solidFill>
          <a:ln/>
        </p:spPr>
      </p:sp>
      <p:sp>
        <p:nvSpPr>
          <p:cNvPr id="15" name="Shape 12"/>
          <p:cNvSpPr/>
          <p:nvPr/>
        </p:nvSpPr>
        <p:spPr>
          <a:xfrm>
            <a:off x="3346704" y="2194560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16" name="Text 13"/>
          <p:cNvSpPr/>
          <p:nvPr/>
        </p:nvSpPr>
        <p:spPr>
          <a:xfrm>
            <a:off x="3346704" y="219456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REDIRECTION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06240" y="2788920"/>
            <a:ext cx="822960" cy="82296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8" name="Image 1" descr="/home/claude/pptx_proj/icons/lin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990088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11296" y="37947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Mirrored SSO Gateway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547872" y="434340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click routes the target to a perfectly mirrored Corporate SSO login.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888736" y="2971800"/>
            <a:ext cx="256032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44768" y="2194560"/>
            <a:ext cx="2542032" cy="3063240"/>
          </a:xfrm>
          <a:prstGeom prst="roundRect">
            <a:avLst>
              <a:gd name="adj" fmla="val 2878"/>
            </a:avLst>
          </a:prstGeom>
          <a:solidFill>
            <a:srgbClr val="24365C"/>
          </a:solidFill>
          <a:ln/>
        </p:spPr>
      </p:sp>
      <p:sp>
        <p:nvSpPr>
          <p:cNvPr id="23" name="Shape 19"/>
          <p:cNvSpPr/>
          <p:nvPr/>
        </p:nvSpPr>
        <p:spPr>
          <a:xfrm>
            <a:off x="6144768" y="2194560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24" name="Text 20"/>
          <p:cNvSpPr/>
          <p:nvPr/>
        </p:nvSpPr>
        <p:spPr>
          <a:xfrm>
            <a:off x="6144768" y="219456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BREACH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004304" y="2788920"/>
            <a:ext cx="822960" cy="82296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26" name="Image 2" descr="/home/claude/pptx_proj/icons/key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990088"/>
            <a:ext cx="420624" cy="4206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9360" y="37947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 Surrendered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345936" y="434340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supplies Active Directory credentials alongside their MFA passcode.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686800" y="2971800"/>
            <a:ext cx="256032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942832" y="2194560"/>
            <a:ext cx="2542032" cy="3063240"/>
          </a:xfrm>
          <a:prstGeom prst="roundRect">
            <a:avLst>
              <a:gd name="adj" fmla="val 2878"/>
            </a:avLst>
          </a:prstGeom>
          <a:solidFill>
            <a:srgbClr val="24365C"/>
          </a:solidFill>
          <a:ln/>
        </p:spPr>
      </p:sp>
      <p:sp>
        <p:nvSpPr>
          <p:cNvPr id="31" name="Shape 26"/>
          <p:cNvSpPr/>
          <p:nvPr/>
        </p:nvSpPr>
        <p:spPr>
          <a:xfrm>
            <a:off x="8942832" y="2194560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32" name="Text 27"/>
          <p:cNvSpPr/>
          <p:nvPr/>
        </p:nvSpPr>
        <p:spPr>
          <a:xfrm>
            <a:off x="8942832" y="219456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OUTCOME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9802368" y="2788920"/>
            <a:ext cx="822960" cy="82296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34" name="Image 3" descr="/home/claude/pptx_proj/icons/networ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36" y="2990088"/>
            <a:ext cx="420624" cy="42062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107424" y="37947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Compromise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9144000" y="4343400"/>
            <a:ext cx="21396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 gain domain persistence, escalate privileges, deploy payloads.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Cyber Hygiene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Cyber Hygiene &amp; Defense Guidelines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mitigation protocols every user and enterprise must implement.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E6ECF6"/>
          </a:solidFill>
          <a:ln/>
        </p:spPr>
      </p:sp>
      <p:pic>
        <p:nvPicPr>
          <p:cNvPr id="6" name="Image 0" descr="/home/claude/pptx_proj/icons/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671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Multi-Factor 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154680"/>
            <a:ext cx="2944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hardware keys or app-based authenticator codes to prevent password-only breaches.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61104" y="178308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2039112"/>
            <a:ext cx="548640" cy="548640"/>
          </a:xfrm>
          <a:prstGeom prst="ellipse">
            <a:avLst/>
          </a:prstGeom>
          <a:solidFill>
            <a:srgbClr val="E6ECF6"/>
          </a:solidFill>
          <a:ln/>
        </p:spPr>
      </p:sp>
      <p:pic>
        <p:nvPicPr>
          <p:cNvPr id="11" name="Image 1" descr="/home/claude/pptx_proj/icons/phon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167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2697480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Out-of-Band Validation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17136" y="3154680"/>
            <a:ext cx="2944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requests via direct, pre-authenticated secondary communication channels.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973568" y="178308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039112"/>
            <a:ext cx="548640" cy="548640"/>
          </a:xfrm>
          <a:prstGeom prst="ellipse">
            <a:avLst/>
          </a:prstGeom>
          <a:solidFill>
            <a:srgbClr val="E6ECF6"/>
          </a:solidFill>
          <a:ln/>
        </p:spPr>
      </p:sp>
      <p:pic>
        <p:nvPicPr>
          <p:cNvPr id="16" name="Image 2" descr="/home/claude/pptx_proj/icons/key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1671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697480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Password Managers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0" y="3154680"/>
            <a:ext cx="2944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verify actual browser URLs before enabling autofill operations.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142232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398264"/>
            <a:ext cx="548640" cy="548640"/>
          </a:xfrm>
          <a:prstGeom prst="ellipse">
            <a:avLst/>
          </a:prstGeom>
          <a:solidFill>
            <a:srgbClr val="E6ECF6"/>
          </a:solidFill>
          <a:ln/>
        </p:spPr>
      </p:sp>
      <p:pic>
        <p:nvPicPr>
          <p:cNvPr id="21" name="Image 3" descr="/home/claude/pptx_proj/icons/search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262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56632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Inspection Discipline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495544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inspect URLs by hovering before committing any interaction.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199632" y="4142232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55664" y="4398264"/>
            <a:ext cx="548640" cy="548640"/>
          </a:xfrm>
          <a:prstGeom prst="ellipse">
            <a:avLst/>
          </a:prstGeom>
          <a:solidFill>
            <a:srgbClr val="E6ECF6"/>
          </a:solidFill>
          <a:ln/>
        </p:spPr>
      </p:sp>
      <p:pic>
        <p:nvPicPr>
          <p:cNvPr id="26" name="Image 4" descr="/home/claude/pptx_proj/icons/bell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2628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55664" y="5056632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Incident Escalation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455664" y="5495544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report suspicious communications directly to the internal security team.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Cyber Hygiene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Knowledge Assessment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280160"/>
            <a:ext cx="685800" cy="68580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5" name="Image 0" descr="/home/claude/pptx_proj/icons/question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4447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07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45920" y="14630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urgent email from your "Executive Board" requesting a confidential spreadsheet download via an unverified cloud drive link.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E6ECF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2587752"/>
            <a:ext cx="42519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download immediately to prevent operational bottlenecks.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2423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E6ECF6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0" y="2587752"/>
            <a:ext cx="42519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inside private browsing mode to test its contents safely.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E6ECF6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17320" y="4233672"/>
            <a:ext cx="42519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Disregard the message and alert coworkers to avoid opening it.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4069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9F7EE"/>
          </a:solidFill>
          <a:ln w="19050">
            <a:solidFill>
              <a:srgbClr val="3FA6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3FA65B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32320" y="4233672"/>
            <a:ext cx="42519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interaction, inspect the sender domain, and verify via authorized channels while alerting security.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1109960" y="42062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1" descr="/home/claude/pptx_proj/icons/che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426110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Cyber Hygiene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560320"/>
            <a:ext cx="4572000" cy="45720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Resilient Security Posture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awareness is the most critical perimeter defense across modern network architectures.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7" name="Image 0" descr="/home/claude/pptx_proj/icons/shiel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2024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vigilance stops what perimeter filters occasionally fail to intercept.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0" name="Image 1" descr="/home/claude/pptx_proj/icons/search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46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69748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facing anomalous communications: Pause, verify sender authenticity, and inspect endpoints.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566928" cy="566928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3" name="Image 2" descr="/home/claude/pptx_proj/icons/bell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47472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and reporting protect the entire organizational network.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63946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"THINK BEFORE YOU CLICK"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by: MD. Rejone Hossen Riaz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22960" y="62453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&amp; Cyber Hygiene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2026-09-17T20:16:49Z</dcterms:created>
  <dcterms:modified xsi:type="dcterms:W3CDTF">2026-09-17T20:16:49Z</dcterms:modified>
</cp:coreProperties>
</file>